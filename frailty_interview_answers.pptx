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Preparation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Data Science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3931920" cy="384048"/>
          </a:xfrm>
          <a:prstGeom prst="roundRect">
            <a:avLst>
              <a:gd name="adj" fmla="val 35714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383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 1: Delta Extraction &amp; Scheduling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3383280"/>
            <a:ext cx="3931920" cy="384048"/>
          </a:xfrm>
          <a:prstGeom prst="roundRect">
            <a:avLst>
              <a:gd name="adj" fmla="val 35714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3383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 2: Frailty Stratification (65+)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6A8A"/>
                </a:solidFill>
              </a:rPr>
              <a:t>5 slides  ·  Xantura Interview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 Extraction &amp; Scheduling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4160520" cy="3977640"/>
          </a:xfrm>
          <a:prstGeom prst="roundRect">
            <a:avLst>
              <a:gd name="adj" fmla="val 2759"/>
            </a:avLst>
          </a:prstGeom>
          <a:solidFill>
            <a:srgbClr val="F8FAF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</a:rPr>
              <a:t>How could the script extract only deltas on subsequent runs?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FEF9C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8350F"/>
                </a:solidFill>
              </a:rPr>
              <a:t>⚠  As delivered, the schema has no date/version columns — only a full extract is possible today. Flag this to the client first.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Three options to enable deltas (best first):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35915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SQL Server Change Tracking  (recommended)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2596896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Built-in, lightweight, captures deletes. Store version watermark in ETL_Watermark; query CHANGETABLE(CHANGES) for changed person_ids only.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236976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20040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Rowversion + watermark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3438144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Add rowversion column; filter WHERE rv &gt; @last_max_rv. Simple but misses deletes — needs separate reconciliation.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078224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404164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Hash-based snapshot diff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" y="4279392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HASHBYTES fingerprint per UPN; classify as New / Changed / Deleted. Zero source schema changes, but heavier on compute.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736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Advance watermark only after file is validated and delivered. Add lookback overlap + idempotent upsert keyed on UPN + period.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932688"/>
            <a:ext cx="4160520" cy="3977640"/>
          </a:xfrm>
          <a:prstGeom prst="roundRect">
            <a:avLst>
              <a:gd name="adj" fmla="val 2759"/>
            </a:avLst>
          </a:prstGeom>
          <a:solidFill>
            <a:srgbClr val="F8FAFB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0058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</a:rPr>
              <a:t>What options could the client use to run the extract on a schedule?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92040" y="1536192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5138928" y="1499616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SQL Server Agent  (default recommendation)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38928" y="1737360"/>
            <a:ext cx="3502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Native to SQL Server, free with Standard/Enterprise. Built-in job history and alerting. Ideal for scheduling T-SQL or an SSIS package.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92040" y="2340864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138928" y="2304288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SSIS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38928" y="2542032"/>
            <a:ext cx="3502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Proper ETL: Flat File destination with full encoding + quote-escaping control, error-row routing, rich logging. Case notes contain the pipe delimiter — SSIS handles RFC-style escaping; bare bcp does not.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92040" y="3145536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5138928" y="3108960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Windows Task Scheduler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38928" y="3346704"/>
            <a:ext cx="3502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OS-level fallback when Agent is unavailable (e.g. SQL Express). Runs a PowerShell/sqlcmd wrapper. Weaker monitoring; manual credential management.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92040" y="3950208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5138928" y="3913632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Azure Data Factory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38928" y="4151376"/>
            <a:ext cx="3502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Managed cloud orchestration with a self-hosted Integration Runtime for on-prem SQL. Native secure delivery to SFTP/Blob. Overkill for one on-prem file but right path as delivery goes cloud.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92040" y="46817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Wrap with a run-log table, alerting on failures and row-count deviations, a least-privilege service account, and a documented runbook.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Framing — Framework, Data &amp; Frailty Labelling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420624"/>
          </a:xfrm>
          <a:prstGeom prst="roundRect">
            <a:avLst>
              <a:gd name="adj" fmla="val 21739"/>
            </a:avLst>
          </a:prstGeom>
          <a:solidFill>
            <a:srgbClr val="0D213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PIPELINE:  Sources  →  Data Quality &amp; Person-Matching  →  Point-in-Time Feature Store  →  Label Definition  →  Train / Validate (Temporal Split)  →  Calibrate  →  Monthly Batch Scoring  →  Monitor  →  Retrain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Data I'd want to use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155448" cy="1554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" y="18013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GP / Primary Care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2064" y="20208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Long-term conditions, polypharmacy, consultation frequency &amp; trend — basis of eFI; highest-value signal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350008"/>
            <a:ext cx="155448" cy="1554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" y="23042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Hospital / SUS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064" y="25237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Emergency admissions, A&amp;E, falls, length of stay — strong predictor and the cost outcome to reduce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852928"/>
            <a:ext cx="155448" cy="1554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28072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Adult Social Care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2064" y="30266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Assessments, care-package hours/escalation — use carefully (can encode past decisions = leakage risk)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355848"/>
            <a:ext cx="155448" cy="1554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33101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Demographics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" y="35295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Age, sex, deprivation (IMD), ethnicity — predictive drivers and essential for fairness testing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858768"/>
            <a:ext cx="155448" cy="1554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" y="38130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Unstructured Case Notes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2064" y="40325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Falls, confusion, 'not coping', carer strain, isolation — surfaces deterioration before formal coding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361688"/>
            <a:ext cx="155448" cy="1554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" y="43159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Housing / Telecare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2064" y="45354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Living alone, unsuitable housing, lifeline alarms — proxies for isolation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1417320"/>
            <a:ext cx="0" cy="3520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4447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Model architecture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18013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Structured pipeline: feature engineering → tabular model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9160" y="21396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Unstructured pipeline: NLP on case notes → embeddings/flags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24780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Late fusion: combine structured + NLP outputs into a unified risk score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9160" y="28163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Three-class output: Low / Medium / High frailty risk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31546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Point-in-time correctness enforced throughout — never leak the future into training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9160" y="349300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Governance on the critical path: Caldicott Guardian / DPO / DPIA sign-off before deployment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3858768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F0FDFA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9319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How to define / label frailty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0" y="42062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Label = a future adverse event within 12 months — an emergency admission, a fall, or a care escalation. Use eFI &amp; Clinical Frailty Scale as corroborating features and validation anchors, not the sole target. Avoids relearning the council's historic decisions and their biases. Definition clinically signed off and kept configurable.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Approach — EDA, Build Plan, Models &amp; Metrics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How I'd explore and understand the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2161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 Missingness — treat as informative ('no GP record' ≠ healthy); add missingness-indicator flags; check if blind spots correlate with deprivation (= fairness risk)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435608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 Class imbalance — high-frailty is rare (single-digit %); drives metric and sampling choices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655064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 Outliers &amp; duplicates — implausible ages, negative length-of-stay, duplicate person records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1874520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 Segmentation — by age band, deprivation decile, ethnicity, geography to confirm model works across groups, not just on average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139696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4028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Step-by-step build plan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78608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57860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2064" y="256032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Assemble &amp; person-match all sources, point-in-time correct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48356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8483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2064" y="283006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Define label (future adverse event ×12 months); agree clinically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118104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1181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2064" y="309981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Engineer features from structured data + NLP flags from case notes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387852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3878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2064" y="336956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Split temporally — train on earlier period, validate/test on later one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6576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2064" y="363931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Baseline: regularised Logistic Regression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927348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9273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2064" y="390906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Primary model: LightGBM/XGBoost; handle imbalance via class_weight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4197096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197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2064" y="417880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Calibrate probabilities (Platt/isotonic) so risk bands are trustworthy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466844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4668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2064" y="444855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Set thresholds to real intervention capacity; output band + SHAP reasons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736592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7365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2064" y="471830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Validate fairness before release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37560" y="2212848"/>
            <a:ext cx="0" cy="2651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22402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Key features to consider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74720" y="257860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 Long-term conditions &amp; multimorbidity count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474720" y="284835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 Polypharmacy (≥5/≥10 meds, anticholinergic burden)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474720" y="311810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 Emergency admissions &amp; A&amp;E visits (last 6–12 months)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474720" y="338785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 Falls in hospital / GP record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474720" y="36576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 GP consultation frequency &amp; trend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474720" y="392734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 Care-package hours &amp; escalation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474720" y="419709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 Age &amp; deprivation (IMD decile)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474720" y="44668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 Living-alone / isolation indicators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474720" y="473659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 NLP flags: falls, confusion, 'not coping', carer strain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72200" y="2212848"/>
            <a:ext cx="0" cy="2651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22402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Models &amp; evaluation metrics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309360" y="2578608"/>
            <a:ext cx="2514600" cy="201168"/>
          </a:xfrm>
          <a:prstGeom prst="roundRect">
            <a:avLst>
              <a:gd name="adj" fmla="val 36364"/>
            </a:avLst>
          </a:prstGeom>
          <a:solidFill>
            <a:srgbClr val="0D9488"/>
          </a:solidFill>
          <a:ln/>
        </p:spPr>
      </p:sp>
      <p:sp>
        <p:nvSpPr>
          <p:cNvPr id="54" name="Text 52"/>
          <p:cNvSpPr/>
          <p:nvPr/>
        </p:nvSpPr>
        <p:spPr>
          <a:xfrm>
            <a:off x="6309360" y="25786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LightGBM / XGBoost  (primary)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09360" y="280720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Best accuracy on messy, missing, mixed tabular health data. Handles non-linearities &amp; missing values natively. SHAP gives per-resident explanations.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309360" y="3273552"/>
            <a:ext cx="2514600" cy="201168"/>
          </a:xfrm>
          <a:prstGeom prst="roundRect">
            <a:avLst>
              <a:gd name="adj" fmla="val 36364"/>
            </a:avLst>
          </a:prstGeom>
          <a:solidFill>
            <a:srgbClr val="0D9488"/>
          </a:solidFill>
          <a:ln/>
        </p:spPr>
      </p:sp>
      <p:sp>
        <p:nvSpPr>
          <p:cNvPr id="57" name="Text 55"/>
          <p:cNvSpPr/>
          <p:nvPr/>
        </p:nvSpPr>
        <p:spPr>
          <a:xfrm>
            <a:off x="6309360" y="32735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Logistic Regression  (baseline)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309360" y="35021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Transparent odds ratios GPs trust. Trivial to govern and deploy. Rule: if simple model is close, ship it — adoption beats a leaderboard.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309360" y="3913632"/>
            <a:ext cx="2514600" cy="201168"/>
          </a:xfrm>
          <a:prstGeom prst="roundRect">
            <a:avLst>
              <a:gd name="adj" fmla="val 36364"/>
            </a:avLst>
          </a:prstGeom>
          <a:solidFill>
            <a:srgbClr val="F59E0B"/>
          </a:solidFill>
          <a:ln/>
        </p:spPr>
      </p:sp>
      <p:sp>
        <p:nvSpPr>
          <p:cNvPr id="60" name="Text 58"/>
          <p:cNvSpPr/>
          <p:nvPr/>
        </p:nvSpPr>
        <p:spPr>
          <a:xfrm>
            <a:off x="6309360" y="39136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Evaluation metrics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309360" y="41513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 PR-AUC — robust under heavy imbalance; focused on the rare high-risk class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309360" y="44531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 Recall @ capacity threshold — of people facing crisis, how many caught within the N visits teams can do?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309360" y="4754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 Calibration / Brier score — predicted probabilities are reliable for resource planning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Monitoring, Fine-Tuning &amp; Fairness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0D213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How would you track performance after deployment?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517904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813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Data drift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7099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Input distributions shift (e.g. GP coding-system change after ICD update). Monitor with PSI / KS tests on key features and missingness rates.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395728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591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Concept drift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5877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The feature→frailty relationship itself changes (e.g. post-pandemic care patterns). Track rolling performance against realised outcomes + calibration drift.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273552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369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Performance back-test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4655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Once outcomes mature: PR-AUC, recall, precision on control charts with alerting thresholds.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4151376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148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Outcome linkage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Does the High-risk cohort actually generate more emergency admissions? This is the real-world validation that matters most — not just AUC.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914400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0D2137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914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When would you fine-tune or retrain the model?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1517904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14813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Scheduled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20440" y="17099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Annual full retrain with 12 months of accumulated labelled data.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2395728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23591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Drift-driven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20440" y="25877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PSI breach on top-10 features OR PR-AUC drops below threshold on the live cohort.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3273552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3520440" y="32369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Event-driven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20440" y="34655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Major data source changes, new GP/hospital feeds, policy shifts (e.g. new care pathways), pandemic-like population shifts.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91840" y="4151376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41148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Incremental vs full retrain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20440" y="43434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Incremental fine-tuning preferred when drift is localised to one source. Never auto-promote — always require human sign-off before a new model touches vulnerable people.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914400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914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How to keep the model fair and explainable?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63640" y="1517904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14813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SHAP explanations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17099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Per-resident top contributing features surfaced in clinician dashboard. Supports triage and builds clinical trust.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63640" y="2395728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23591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Quarterly fairness audit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92240" y="25877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Stratified recall, precision and calibration across deprivation decile, ethnicity, sex and age band. Flag if High-risk recall diverges &gt;5% between subgroups.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63640" y="3273552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32369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Human-in-the-loop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92240" y="34655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'The model prioritises; professionals decide.' This is a prioritisation aid, not an automated decision about vulnerable people.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63640" y="4151376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6" name="Text 44"/>
          <p:cNvSpPr/>
          <p:nvPr/>
        </p:nvSpPr>
        <p:spPr>
          <a:xfrm>
            <a:off x="6492240" y="41148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Model card &amp; governance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92240" y="43434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Documented assumptions, intended use, limitations. Reviewed by Information Governance, Caldicott Guardian and clinical leads annually.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 Answers — Delta Extraction &amp; Frailty Stratification</dc:title>
  <dc:subject>PptxGenJS Presentation</dc:subject>
  <dc:creator>PptxGenJS</dc:creator>
  <cp:lastModifiedBy>PptxGenJS</cp:lastModifiedBy>
  <cp:revision>1</cp:revision>
  <dcterms:created xsi:type="dcterms:W3CDTF">2026-06-10T20:36:33Z</dcterms:created>
  <dcterms:modified xsi:type="dcterms:W3CDTF">2026-06-10T20:36:33Z</dcterms:modified>
</cp:coreProperties>
</file>